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3366"/>
                </a:solidFill>
              </a:rPr>
              <a:t>STLC Stages &amp; Efficiency Gains — Updated with Actuals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4114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822960"/>
                <a:gridCol w="822960"/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STLC Phase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Year-1 (Actual)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Year-2 (Proj.)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Year-3 (Proj.)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Requirement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8000"/>
                          </a:solidFill>
                        </a:rPr>
                        <a:t>40-50%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8000"/>
                          </a:solidFill>
                        </a:rPr>
                        <a:t>55-65%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8000"/>
                          </a:solidFill>
                        </a:rPr>
                        <a:t>65-75%</a:t>
                      </a:r>
                    </a:p>
                  </a:txBody>
                  <a:tcPr anchor="ctr"/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Test scenario creation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8000"/>
                          </a:solidFill>
                        </a:rPr>
                        <a:t>60-70%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8000"/>
                          </a:solidFill>
                        </a:rPr>
                        <a:t>75-85%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8000"/>
                          </a:solidFill>
                        </a:rPr>
                        <a:t>85-90%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Test case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8000"/>
                          </a:solidFill>
                        </a:rPr>
                        <a:t>50-60%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8000"/>
                          </a:solidFill>
                        </a:rPr>
                        <a:t>65-75%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8000"/>
                          </a:solidFill>
                        </a:rPr>
                        <a:t>75-85%</a:t>
                      </a:r>
                    </a:p>
                  </a:txBody>
                  <a:tcPr anchor="ctr"/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Automation testing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8000"/>
                          </a:solidFill>
                        </a:rPr>
                        <a:t>30-40%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8000"/>
                          </a:solidFill>
                        </a:rPr>
                        <a:t>45-55%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8000"/>
                          </a:solidFill>
                        </a:rPr>
                        <a:t>55-65%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Manual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8000"/>
                          </a:solidFill>
                        </a:rPr>
                        <a:t>20-30%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8000"/>
                          </a:solidFill>
                        </a:rPr>
                        <a:t>35-45%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8000"/>
                          </a:solidFill>
                        </a:rPr>
                        <a:t>50-60%</a:t>
                      </a:r>
                    </a:p>
                  </a:txBody>
                  <a:tcPr anchor="ctr"/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Test case review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8000"/>
                          </a:solidFill>
                        </a:rPr>
                        <a:t>25-35%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8000"/>
                          </a:solidFill>
                        </a:rPr>
                        <a:t>35-45%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8000"/>
                          </a:solidFill>
                        </a:rPr>
                        <a:t>45-55%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Updating exec statistics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8000"/>
                          </a:solidFill>
                        </a:rPr>
                        <a:t>50-65%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8000"/>
                          </a:solidFill>
                        </a:rPr>
                        <a:t>65-75%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8000"/>
                          </a:solidFill>
                        </a:rPr>
                        <a:t>75-85%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640080"/>
          <a:ext cx="43891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1188720"/>
                <a:gridCol w="1188720"/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Tosca Cost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AI Automation
(Actual)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Net Saving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</a:rPr>
                        <a:t>1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</a:rPr>
                        <a:t>~$2300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</a:rPr>
                        <a:t>~$150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8000"/>
                          </a:solidFill>
                        </a:rPr>
                        <a:t>~$2150 K</a:t>
                      </a:r>
                    </a:p>
                  </a:txBody>
                  <a:tcPr anchor="ctr"/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</a:rPr>
                        <a:t>3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</a:rPr>
                        <a:t>~$6900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</a:rPr>
                        <a:t>~$450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8000"/>
                          </a:solidFill>
                        </a:rPr>
                        <a:t>~$6450 K</a:t>
                      </a:r>
                    </a:p>
                  </a:txBody>
                  <a:tcPr anchor="ctr"/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</a:rPr>
                        <a:t>5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</a:rPr>
                        <a:t>~$11500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</a:rPr>
                        <a:t>~$750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8000"/>
                          </a:solidFill>
                        </a:rPr>
                        <a:t>~$10750 K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0" y="1965960"/>
          <a:ext cx="4389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</a:tblGrid>
              <a:tr h="28738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Actual Value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</a:rPr>
                        <a:t>3-Year Saving (vs Tosca)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8000"/>
                          </a:solidFill>
                        </a:rPr>
                        <a:t>~$6,450 K</a:t>
                      </a:r>
                    </a:p>
                  </a:txBody>
                  <a:tcPr anchor="ctr"/>
                </a:tc>
              </a:tr>
              <a:tr h="28738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</a:rPr>
                        <a:t>License Cost Reduction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8000"/>
                          </a:solidFill>
                        </a:rPr>
                        <a:t>95-100%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</a:rPr>
                        <a:t>Effort Cost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8000"/>
                          </a:solidFill>
                        </a:rPr>
                        <a:t>40-50%</a:t>
                      </a:r>
                    </a:p>
                  </a:txBody>
                  <a:tcPr anchor="ctr"/>
                </a:tc>
              </a:tr>
              <a:tr h="28738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</a:rPr>
                        <a:t>Total Cost Reduction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8000"/>
                          </a:solidFill>
                        </a:rPr>
                        <a:t>85-93%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</a:rPr>
                        <a:t>Features Covered (TSG)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8000"/>
                          </a:solidFill>
                        </a:rPr>
                        <a:t>70+ (MWTGPROV)</a:t>
                      </a:r>
                    </a:p>
                  </a:txBody>
                  <a:tcPr anchor="ctr"/>
                </a:tc>
              </a:tr>
              <a:tr h="2873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</a:rPr>
                        <a:t>API Endpoints Automated (TSE)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8000"/>
                          </a:solidFill>
                        </a:rPr>
                        <a:t>50+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4160520"/>
          <a:ext cx="8778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60120"/>
                <a:gridCol w="960120"/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Cost Categories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As Is
(Tosca)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To Be
(AI Actual)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As Is
Post Yr1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To Be
Post Yr1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As Is
Year 2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To Be
Year 2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As Is
Year 3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To Be
Year 3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</a:rPr>
                        <a:t>Tool / License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~$200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8000"/>
                          </a:solidFill>
                        </a:rPr>
                        <a:t>~$0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~$200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8000"/>
                          </a:solidFill>
                        </a:rPr>
                        <a:t>~$0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~$200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8000"/>
                          </a:solidFill>
                        </a:rPr>
                        <a:t>~$0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~$200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8000"/>
                          </a:solidFill>
                        </a:rPr>
                        <a:t>~$0 K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</a:rPr>
                        <a:t>Effort Cost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~$1050 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8000"/>
                          </a:solidFill>
                        </a:rPr>
                        <a:t>~$150 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~$2100 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8000"/>
                          </a:solidFill>
                        </a:rPr>
                        <a:t>~$300 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~$2100 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8000"/>
                          </a:solidFill>
                        </a:rPr>
                        <a:t>~$300 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~$2100 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8000"/>
                          </a:solidFill>
                        </a:rPr>
                        <a:t>~$300 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</a:rPr>
                        <a:t>~$1250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8000"/>
                          </a:solidFill>
                        </a:rPr>
                        <a:t>~$150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</a:rPr>
                        <a:t>~$2300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8000"/>
                          </a:solidFill>
                        </a:rPr>
                        <a:t>~$300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</a:rPr>
                        <a:t>~$2300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8000"/>
                          </a:solidFill>
                        </a:rPr>
                        <a:t>~$300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</a:rPr>
                        <a:t>~$2300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8000"/>
                          </a:solidFill>
                        </a:rPr>
                        <a:t>~$300 K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" y="566928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i="1">
                <a:solidFill>
                  <a:srgbClr val="666666"/>
                </a:solidFill>
              </a:rPr>
              <a:t>Actuals: TSG v4.0.1 (32 modules, 70+ features, 1000+ test suites) | TSE v1.0 (27 modules, 7-step pipeline, 50+ APIs) | MDA Dashboard (auto PPTX/pivots) | Tool cost: $0 (Python + AI assistants, no Tosca license)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